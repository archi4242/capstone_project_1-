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6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D49B"/>
    <a:srgbClr val="E7F97B"/>
    <a:srgbClr val="F4FDD5"/>
    <a:srgbClr val="FFCCFF"/>
    <a:srgbClr val="CCFFFF"/>
    <a:srgbClr val="FFCC66"/>
    <a:srgbClr val="6C0808"/>
    <a:srgbClr val="7235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222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ike_ppt/shoe_orange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 rot="-1080000">
            <a:off x="7134187" y="-67827"/>
            <a:ext cx="4389120" cy="4389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600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GLOBAL DIGITAL STRATEGY TEAM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96596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Video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Analytics — 2025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069080"/>
            <a:ext cx="86075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Shorts · TikTok  —  Campaign Performance, Creator ROI &amp; Viral-Trend Prediction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731520" y="5074920"/>
            <a:ext cx="3749039" cy="457200"/>
          </a:xfrm>
          <a:prstGeom prst="rect">
            <a:avLst/>
          </a:prstGeom>
          <a:solidFill>
            <a:srgbClr val="FF4B1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731519" y="5074919"/>
            <a:ext cx="3749039" cy="457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&amp; 2 · SQL + POWER BI</a:t>
            </a:r>
            <a:endParaRPr lang="en-US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91DD10A-A5C9-4E65-B4AD-536CFFF9F7E0}"/>
              </a:ext>
            </a:extLst>
          </p:cNvPr>
          <p:cNvSpPr/>
          <p:nvPr/>
        </p:nvSpPr>
        <p:spPr>
          <a:xfrm>
            <a:off x="9418320" y="4570494"/>
            <a:ext cx="2583338" cy="2194560"/>
          </a:xfrm>
          <a:prstGeom prst="ellipse">
            <a:avLst/>
          </a:prstGeom>
          <a:solidFill>
            <a:srgbClr val="FF4B12"/>
          </a:solidFill>
          <a:ln/>
        </p:spPr>
        <p:txBody>
          <a:bodyPr/>
          <a:lstStyle/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  Presented by,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  Archi Katiyar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   Cohort-12</a:t>
            </a:r>
            <a:endParaRPr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9538"/>
            <a:ext cx="731520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spc="150" dirty="0">
                <a:solidFill>
                  <a:srgbClr val="FF4B12"/>
                </a:solidFill>
                <a:latin typeface="Calibri"/>
              </a:rPr>
              <a:t>PROJECT OVERVIEW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123" y="40108"/>
            <a:ext cx="1101012" cy="676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905256"/>
            <a:ext cx="73152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dirty="0">
                <a:solidFill>
                  <a:srgbClr val="111111"/>
                </a:solidFill>
                <a:latin typeface="Calibri"/>
              </a:rPr>
              <a:t>The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0661"/>
            <a:ext cx="10881360" cy="10511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i="0" dirty="0">
                <a:solidFill>
                  <a:srgbClr val="3A3A3A"/>
                </a:solidFill>
                <a:latin typeface="Calibri"/>
              </a:rPr>
              <a:t>You've joined the Nike Global Digital Strategy Team. Nike invests millions every year in influencer marketing and creator-led short-form content on YouTube Shorts and TikTok. This project analyzes the 2025 short-form video trends dataset to turn that spend into evidence-based strategy.</a:t>
            </a:r>
          </a:p>
        </p:txBody>
      </p:sp>
      <p:sp>
        <p:nvSpPr>
          <p:cNvPr id="7" name="Oval 6"/>
          <p:cNvSpPr/>
          <p:nvPr/>
        </p:nvSpPr>
        <p:spPr>
          <a:xfrm>
            <a:off x="674852" y="2778288"/>
            <a:ext cx="146304" cy="146304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711456"/>
            <a:ext cx="104241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111111"/>
                </a:solidFill>
                <a:latin typeface="Calibri"/>
              </a:rPr>
              <a:t>How Nike's campaigns perform across countries and platforms</a:t>
            </a:r>
          </a:p>
        </p:txBody>
      </p:sp>
      <p:sp>
        <p:nvSpPr>
          <p:cNvPr id="9" name="Oval 8"/>
          <p:cNvSpPr/>
          <p:nvPr/>
        </p:nvSpPr>
        <p:spPr>
          <a:xfrm>
            <a:off x="674852" y="3201033"/>
            <a:ext cx="146304" cy="146304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152141"/>
            <a:ext cx="104241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111111"/>
                </a:solidFill>
                <a:latin typeface="Calibri"/>
              </a:rPr>
              <a:t>What type of content drives completion and engagement</a:t>
            </a:r>
          </a:p>
        </p:txBody>
      </p:sp>
      <p:sp>
        <p:nvSpPr>
          <p:cNvPr id="11" name="Oval 10"/>
          <p:cNvSpPr/>
          <p:nvPr/>
        </p:nvSpPr>
        <p:spPr>
          <a:xfrm>
            <a:off x="656191" y="3668010"/>
            <a:ext cx="146304" cy="146304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3634071"/>
            <a:ext cx="104241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111111"/>
                </a:solidFill>
                <a:latin typeface="Calibri"/>
              </a:rPr>
              <a:t>Which creators and hashtags provide the most ROI</a:t>
            </a:r>
          </a:p>
        </p:txBody>
      </p:sp>
      <p:sp>
        <p:nvSpPr>
          <p:cNvPr id="13" name="Oval 12"/>
          <p:cNvSpPr/>
          <p:nvPr/>
        </p:nvSpPr>
        <p:spPr>
          <a:xfrm>
            <a:off x="661416" y="4133908"/>
            <a:ext cx="146304" cy="146304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087405"/>
            <a:ext cx="104241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111111"/>
                </a:solidFill>
                <a:latin typeface="Calibri"/>
              </a:rPr>
              <a:t>How to predict viral trends for upcoming product launches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76400" y="4581984"/>
            <a:ext cx="4282440" cy="196036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072640" y="4923484"/>
            <a:ext cx="502920" cy="50292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72640" y="4881637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923484"/>
            <a:ext cx="240792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Calibri"/>
              </a:rPr>
              <a:t>SQL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2349" y="5684209"/>
            <a:ext cx="3170542" cy="2998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b="0" i="0" dirty="0">
                <a:solidFill>
                  <a:schemeClr val="bg1"/>
                </a:solidFill>
                <a:latin typeface="Calibri"/>
              </a:rPr>
              <a:t>Query &amp; analyze the raw dataset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60906" y="4591226"/>
            <a:ext cx="3592908" cy="196036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955280" y="4789896"/>
            <a:ext cx="502920" cy="50292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0" y="478989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3068" y="4889687"/>
            <a:ext cx="25603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Power BI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5595585"/>
            <a:ext cx="2659380" cy="2664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>
                <a:solidFill>
                  <a:schemeClr val="bg1"/>
                </a:solidFill>
                <a:latin typeface="Calibri"/>
              </a:rPr>
              <a:t>Build interactive visual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453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44706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SQL PHASE  ·  QUERY 01 OF 12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204" y="36576"/>
            <a:ext cx="1004596" cy="67796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40080" y="777240"/>
            <a:ext cx="777240" cy="77724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79" y="1691640"/>
            <a:ext cx="862149" cy="91438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687" y="2147719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11111"/>
                </a:solidFill>
                <a:latin typeface="Calibri"/>
              </a:rPr>
              <a:t>Platform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687" y="2880360"/>
            <a:ext cx="4023360" cy="7948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Total views and average engagement rate across YouTube Shorts vs. TikTok.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6116" y="1079179"/>
            <a:ext cx="6492240" cy="54406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8753" y="1864124"/>
            <a:ext cx="6286967" cy="16004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SQL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3 / 23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7DC0995-2EB0-B44F-489E-96CBE238A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058" y="4049793"/>
            <a:ext cx="4899876" cy="15889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2000" cy="685799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54663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SQL PHASE  ·  QUERY 02 OF 12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777240"/>
            <a:ext cx="777240" cy="77724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79" y="1691639"/>
            <a:ext cx="983447" cy="45719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2789" y="2019701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11111"/>
                </a:solidFill>
                <a:latin typeface="Calibri"/>
              </a:rPr>
              <a:t>Regional Hotspots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789" y="2684110"/>
            <a:ext cx="4327538" cy="7948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Top 5 countries with the highest views for Nike campaigns, on each platform.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069848"/>
            <a:ext cx="6492240" cy="54406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1554480"/>
            <a:ext cx="6163055" cy="1874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SQL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4 / 23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EA7418-83C7-7C09-1689-E4B342FBD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670" y="3699961"/>
            <a:ext cx="2798738" cy="2246997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2C10EE4F-DD45-26CB-0CA3-49372636A4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0204" y="36576"/>
            <a:ext cx="1004596" cy="6492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304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47118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SQL PHASE  ·  QUERY 03 OF 12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777240"/>
            <a:ext cx="777240" cy="77724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79" y="7772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79" y="1691640"/>
            <a:ext cx="843487" cy="91438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11111"/>
                </a:solidFill>
                <a:latin typeface="Calibri"/>
              </a:rPr>
              <a:t>Category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52943"/>
            <a:ext cx="4114800" cy="1210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Average completion rate and avg. watch time for categories like Sports, Lifestyle, Fashion.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032939"/>
            <a:ext cx="6659880" cy="54406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2081558"/>
            <a:ext cx="6403848" cy="1448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SQL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5 / 23</a:t>
            </a: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4DEEC073-BB09-458C-9A19-65D19983C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3422" y="-1"/>
            <a:ext cx="1004596" cy="6830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B056F8-507E-817D-DCA2-974E5F657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125" y="4177353"/>
            <a:ext cx="3162025" cy="10148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2000" cy="731783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8808" y="137584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SQL PHASE  ·  QUERY 04 OF 12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777240"/>
            <a:ext cx="777240" cy="77724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40" y="1691639"/>
            <a:ext cx="979714" cy="76661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11111"/>
                </a:solidFill>
                <a:latin typeface="Calibri"/>
              </a:rPr>
              <a:t>Creator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" y="2774141"/>
            <a:ext cx="4270247" cy="1210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Top 10 creators (</a:t>
            </a:r>
            <a:r>
              <a:rPr sz="2000" b="1" dirty="0" err="1">
                <a:solidFill>
                  <a:srgbClr val="FF0000"/>
                </a:solidFill>
                <a:latin typeface="Calibri"/>
              </a:rPr>
              <a:t>author_handle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) by average views, along with their creator tier.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4374" y="1078284"/>
            <a:ext cx="6492240" cy="54406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269" y="1691639"/>
            <a:ext cx="6290451" cy="17766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SQL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6 / 23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64643A6-D752-7A89-BF98-3FC158E0E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840" y="3984472"/>
            <a:ext cx="2909628" cy="2141745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88958E48-314C-B01B-01DF-4CC83020B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8596" y="0"/>
            <a:ext cx="1004596" cy="6952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2000" cy="8994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5902" y="210312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SQL PHASE  ·  QUERY 05 OF 12</a:t>
            </a:r>
          </a:p>
        </p:txBody>
      </p:sp>
      <p:sp>
        <p:nvSpPr>
          <p:cNvPr id="5" name="Oval 4"/>
          <p:cNvSpPr/>
          <p:nvPr/>
        </p:nvSpPr>
        <p:spPr>
          <a:xfrm>
            <a:off x="622788" y="1107381"/>
            <a:ext cx="777240" cy="77724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0784" y="1074421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583788" y="1930782"/>
            <a:ext cx="927464" cy="91438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97222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11111"/>
                </a:solidFill>
                <a:latin typeface="Calibri"/>
              </a:rPr>
              <a:t>Hashtag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79" y="2788919"/>
            <a:ext cx="4023360" cy="7948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Top 20 hashtags by total views, with median engagement 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10912" y="1020895"/>
            <a:ext cx="6812280" cy="57012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808" y="1186919"/>
            <a:ext cx="6598487" cy="35558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SQL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7 / 23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90DB003-FA7F-DC2C-566C-6732A26F2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073" y="4803488"/>
            <a:ext cx="3162574" cy="1844200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DB53D285-97AC-FA72-A1BF-0302339951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2604" y="42536"/>
            <a:ext cx="1004596" cy="7785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6534"/>
            <a:ext cx="12192000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9386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SQL PHASE  ·  QUERY 06 OF 12</a:t>
            </a:r>
          </a:p>
        </p:txBody>
      </p:sp>
      <p:sp>
        <p:nvSpPr>
          <p:cNvPr id="5" name="Oval 4"/>
          <p:cNvSpPr/>
          <p:nvPr/>
        </p:nvSpPr>
        <p:spPr>
          <a:xfrm>
            <a:off x="716280" y="1104724"/>
            <a:ext cx="777240" cy="77724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0559" y="1308678"/>
            <a:ext cx="78843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70560" y="1978012"/>
            <a:ext cx="908802" cy="47059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75711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11111"/>
                </a:solidFill>
                <a:latin typeface="Calibri"/>
              </a:rPr>
              <a:t>Emoji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" y="2823834"/>
            <a:ext cx="4023360" cy="1210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Median engagement per 1K views: videos with an emoji in the title vs. without.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069848"/>
            <a:ext cx="6492240" cy="54406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1317093"/>
            <a:ext cx="6163055" cy="40555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SQL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8 / 23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BF1D560-0731-CE09-4CD4-344CF8F68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755" y="5465838"/>
            <a:ext cx="2618717" cy="951496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FEE5183A-983A-AFF5-A867-B323F6FCBE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3422" y="60574"/>
            <a:ext cx="1004596" cy="7349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2000" cy="975367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3906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SQL PHASE  ·  QUERY 07 OF 12</a:t>
            </a:r>
          </a:p>
        </p:txBody>
      </p:sp>
      <p:sp>
        <p:nvSpPr>
          <p:cNvPr id="5" name="Oval 4"/>
          <p:cNvSpPr/>
          <p:nvPr/>
        </p:nvSpPr>
        <p:spPr>
          <a:xfrm>
            <a:off x="691865" y="1057692"/>
            <a:ext cx="777240" cy="77724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1865" y="1075518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35083"/>
            <a:ext cx="880810" cy="62448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23552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11111"/>
                </a:solidFill>
                <a:latin typeface="Calibri"/>
              </a:rPr>
              <a:t>Upload Timing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4023360" cy="7948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Average views and completion rate by publish day-of-week and upload hour.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324946"/>
            <a:ext cx="6492240" cy="51855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1801910"/>
            <a:ext cx="6163055" cy="18732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SQL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9 / 23</a:t>
            </a: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769E52FF-2DF1-0777-D8F8-E2AFAE194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2604" y="30363"/>
            <a:ext cx="1004596" cy="7418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C6E940C-E293-11D6-F0E7-A10B0BE4CA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373" y="4010764"/>
            <a:ext cx="4125287" cy="20950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2438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6115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SQL PHASE  ·  QUERY 08 OF 12</a:t>
            </a:r>
          </a:p>
        </p:txBody>
      </p:sp>
      <p:sp>
        <p:nvSpPr>
          <p:cNvPr id="5" name="Oval 4"/>
          <p:cNvSpPr/>
          <p:nvPr/>
        </p:nvSpPr>
        <p:spPr>
          <a:xfrm>
            <a:off x="648478" y="1249571"/>
            <a:ext cx="777240" cy="77724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8478" y="1262541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8478" y="2092635"/>
            <a:ext cx="862149" cy="45719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342205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11111"/>
                </a:solidFill>
                <a:latin typeface="Calibri"/>
              </a:rPr>
              <a:t>Trend Momentum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4023360" cy="1210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Median engagement velocity and trend duration (days), broken down by trend type.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777240"/>
            <a:ext cx="6492240" cy="58008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rcRect t="1776"/>
          <a:stretch>
            <a:fillRect/>
          </a:stretch>
        </p:blipFill>
        <p:spPr>
          <a:xfrm>
            <a:off x="5239512" y="919471"/>
            <a:ext cx="6163055" cy="46084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SQL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10 / 23</a:t>
            </a: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C072863C-B0E4-883A-0AF1-8B795D02A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0873" y="0"/>
            <a:ext cx="1157555" cy="6029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A2AC25-F3AB-7F95-EAC7-1B70EF317D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1014" y="5601684"/>
            <a:ext cx="3375953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2000" cy="982889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6259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SQL PHASE  ·  QUERY 09 OF 12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89" y="20934"/>
            <a:ext cx="1204955" cy="8001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57808" y="1087531"/>
            <a:ext cx="777240" cy="77724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55713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57808" y="1937595"/>
            <a:ext cx="890140" cy="91438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61398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11111"/>
                </a:solidFill>
                <a:latin typeface="Calibri"/>
              </a:rPr>
              <a:t>Device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4023360" cy="1210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Completion rates by device type (Android / iOS / Web) and device brand.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39" y="1651518"/>
            <a:ext cx="6492240" cy="49612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534" y="2128290"/>
            <a:ext cx="6163055" cy="17039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SQL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11 / 23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9D26E98-041D-7A2D-CA28-060A9D465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2364" y="4090691"/>
            <a:ext cx="3068790" cy="22845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2447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5790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SQL PHASE  ·  QUERY 10 OF 12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6229" y="4657"/>
            <a:ext cx="1371599" cy="93274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40080" y="1330962"/>
            <a:ext cx="777240" cy="77724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4840" y="1326829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79" y="2149989"/>
            <a:ext cx="955455" cy="45719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4840" y="2406428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11111"/>
                </a:solidFill>
                <a:latin typeface="Calibri"/>
              </a:rPr>
              <a:t>Traffic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0220" y="3047656"/>
            <a:ext cx="4129420" cy="1210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Breakdown of traffic source (For You Page, Search, Direct, etc.) with median completion 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330961"/>
            <a:ext cx="6492240" cy="52200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8287" y="1570767"/>
            <a:ext cx="6260374" cy="29871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SQL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12 / 23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12090D4-6B1C-9280-36AE-F8C49C1A7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869" y="4659187"/>
            <a:ext cx="2623210" cy="16306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2000" cy="986777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3401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SQL PHASE  ·  QUERY 11 OF 12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4261" y="73151"/>
            <a:ext cx="1427584" cy="83873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40080" y="1306141"/>
            <a:ext cx="777240" cy="77724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1005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25659"/>
            <a:ext cx="964785" cy="45719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307198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11111"/>
                </a:solidFill>
                <a:latin typeface="Calibri"/>
              </a:rPr>
              <a:t>Seasonal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4114800" cy="1210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Views and engagement rate across event seasons — Olympics, Christmas, Summer Sales, etc.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645916"/>
            <a:ext cx="6492240" cy="48166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rcRect t="3080"/>
          <a:stretch>
            <a:fillRect/>
          </a:stretch>
        </p:blipFill>
        <p:spPr>
          <a:xfrm>
            <a:off x="5239512" y="2186697"/>
            <a:ext cx="6163055" cy="20594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SQL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13 / 23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CBD8A8-D989-8A3A-4363-7433D5F0E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8647" y="4519747"/>
            <a:ext cx="2692577" cy="15030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2000" cy="965235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74321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SQL PHASE  ·  QUERY 12 OF 12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188" y="107711"/>
            <a:ext cx="1034205" cy="694721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24840" y="1274089"/>
            <a:ext cx="777240" cy="77724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4840" y="1239555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63099"/>
            <a:ext cx="843487" cy="91440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79" y="2452959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11111"/>
                </a:solidFill>
                <a:latin typeface="Calibri"/>
              </a:rPr>
              <a:t>Data Quality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" y="3046038"/>
            <a:ext cx="4023360" cy="1210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Validate </a:t>
            </a:r>
            <a:r>
              <a:rPr sz="2000" b="1" dirty="0" err="1">
                <a:solidFill>
                  <a:srgbClr val="FF0000"/>
                </a:solidFill>
                <a:latin typeface="Calibri"/>
              </a:rPr>
              <a:t>engagement_total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 = likes + comments + shares + saves. Return mismatched rows.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492898"/>
            <a:ext cx="6492240" cy="50176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0661" y="2270321"/>
            <a:ext cx="6163055" cy="1986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SQL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14 / 23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BEA77C-B4D7-CE37-2D5C-DBB0B7B59D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79"/>
          <a:stretch>
            <a:fillRect/>
          </a:stretch>
        </p:blipFill>
        <p:spPr>
          <a:xfrm>
            <a:off x="5701004" y="4637700"/>
            <a:ext cx="5169159" cy="11504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331" y="4572"/>
            <a:ext cx="12192000" cy="8138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46849" y="100584"/>
            <a:ext cx="731520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spc="150" dirty="0">
                <a:solidFill>
                  <a:srgbClr val="FF4B12"/>
                </a:solidFill>
                <a:latin typeface="Calibri"/>
              </a:rPr>
              <a:t>POWER BI ANALYTICS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939" y="11738"/>
            <a:ext cx="1244022" cy="806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936887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111111"/>
                </a:solidFill>
                <a:latin typeface="Calibri"/>
              </a:rPr>
              <a:t>Dashboard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881360" cy="691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i="0" dirty="0">
                <a:latin typeface="Calibri"/>
              </a:rPr>
              <a:t>Building on the SQL analysis, a 5-page interactive Power BI dashboard was built across the same 48,000+ video dataset — surfacing platform, regional, creator, and seasonal patterns to guide upcoming campaign strategy.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251460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679192"/>
            <a:ext cx="2514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111111"/>
                </a:solidFill>
                <a:latin typeface="Calibri"/>
              </a:rPr>
              <a:t>5B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0712"/>
            <a:ext cx="25146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 dirty="0">
                <a:latin typeface="Calibri"/>
              </a:rPr>
              <a:t>Total 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514600"/>
            <a:ext cx="251460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2679192"/>
            <a:ext cx="2514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111111"/>
                </a:solidFill>
                <a:latin typeface="Calibri"/>
              </a:rPr>
              <a:t>49.70K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410712"/>
            <a:ext cx="25146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 dirty="0">
                <a:latin typeface="Calibri"/>
              </a:rPr>
              <a:t>Videos Analyzed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514600"/>
            <a:ext cx="251460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2679192"/>
            <a:ext cx="2514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111111"/>
                </a:solidFill>
                <a:latin typeface="Calibri"/>
              </a:rPr>
              <a:t>64%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410712"/>
            <a:ext cx="25146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 dirty="0">
                <a:latin typeface="Calibri"/>
              </a:rPr>
              <a:t>Avg. Completion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39" y="2514600"/>
            <a:ext cx="251460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39" y="2679192"/>
            <a:ext cx="2514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111111"/>
                </a:solidFill>
                <a:latin typeface="Calibri"/>
              </a:rPr>
              <a:t>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3410712"/>
            <a:ext cx="25146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 dirty="0">
                <a:latin typeface="Calibri"/>
              </a:rPr>
              <a:t>Avg. Engagement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15384"/>
            <a:ext cx="73152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spc="150" dirty="0">
                <a:latin typeface="Calibri"/>
              </a:rPr>
              <a:t>WHAT'S COVERED ACROSS THE 5 PAGES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690872"/>
            <a:ext cx="310896" cy="31089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69087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63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Calibri"/>
              </a:rPr>
              <a:t>Executive Overview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093208"/>
            <a:ext cx="310896" cy="31089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0932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65776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Calibri"/>
              </a:rPr>
              <a:t>Hashtag &amp; Category Engagement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495544"/>
            <a:ext cx="310896" cy="31089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49554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46811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Calibri"/>
              </a:rPr>
              <a:t>Hashtag ROI &amp; Content Duration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5897880"/>
            <a:ext cx="310896" cy="31089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8978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87044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Calibri"/>
              </a:rPr>
              <a:t>Creator Tier &amp; Timing Insights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6300216"/>
            <a:ext cx="310896" cy="31089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63002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272784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Calibri"/>
              </a:rPr>
              <a:t>Device, Trend &amp; Seasonal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9674"/>
            <a:ext cx="12192000" cy="777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74280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POWER BI PHASE  ·  DASHBOARD 1 OF 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139" y="100584"/>
            <a:ext cx="869053" cy="59893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573494" y="893782"/>
            <a:ext cx="777240" cy="77724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573494" y="893387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480421" y="1752371"/>
            <a:ext cx="963386" cy="82295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1162" y="1147965"/>
            <a:ext cx="4937760" cy="4340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11111"/>
                </a:solidFill>
                <a:latin typeface="Calibri"/>
              </a:rPr>
              <a:t>Executive Overview</a:t>
            </a:r>
          </a:p>
        </p:txBody>
      </p:sp>
      <p:sp>
        <p:nvSpPr>
          <p:cNvPr id="11" name="Oval 10"/>
          <p:cNvSpPr/>
          <p:nvPr/>
        </p:nvSpPr>
        <p:spPr>
          <a:xfrm>
            <a:off x="7237009" y="2021208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20473" y="1875912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latin typeface="Calibri"/>
              </a:rPr>
              <a:t>5B total views across 49.70K short-form videos analyzed</a:t>
            </a:r>
          </a:p>
        </p:txBody>
      </p:sp>
      <p:sp>
        <p:nvSpPr>
          <p:cNvPr id="13" name="Oval 12"/>
          <p:cNvSpPr/>
          <p:nvPr/>
        </p:nvSpPr>
        <p:spPr>
          <a:xfrm>
            <a:off x="7237009" y="3030619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20473" y="2757727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latin typeface="Calibri"/>
              </a:rPr>
              <a:t>64% average completion rate · 8% average engagement rate</a:t>
            </a:r>
          </a:p>
        </p:txBody>
      </p:sp>
      <p:sp>
        <p:nvSpPr>
          <p:cNvPr id="15" name="Oval 14"/>
          <p:cNvSpPr/>
          <p:nvPr/>
        </p:nvSpPr>
        <p:spPr>
          <a:xfrm>
            <a:off x="7237009" y="3770873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20473" y="3649249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latin typeface="Calibri"/>
              </a:rPr>
              <a:t>TikTok drives 60.3% of views (3B) vs. YouTube's 39.7% (2B)</a:t>
            </a:r>
          </a:p>
        </p:txBody>
      </p:sp>
      <p:sp>
        <p:nvSpPr>
          <p:cNvPr id="17" name="Oval 16"/>
          <p:cNvSpPr/>
          <p:nvPr/>
        </p:nvSpPr>
        <p:spPr>
          <a:xfrm>
            <a:off x="7237009" y="4803513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20473" y="4610223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latin typeface="Calibri"/>
              </a:rPr>
              <a:t>Europe leads by region (~1.6B views), ahead of Asia and Africa</a:t>
            </a:r>
          </a:p>
        </p:txBody>
      </p:sp>
      <p:sp>
        <p:nvSpPr>
          <p:cNvPr id="19" name="Oval 18"/>
          <p:cNvSpPr/>
          <p:nvPr/>
        </p:nvSpPr>
        <p:spPr>
          <a:xfrm>
            <a:off x="7237009" y="5773170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20473" y="5515872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latin typeface="Calibri"/>
              </a:rPr>
              <a:t>Views are fairly evenly spread across categories — Pets, Fitness, and Music lead narrowly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POWER BI PHASE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16 / 23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90CB507-196A-D36F-B2F8-5FE2DB7999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79"/>
          <a:stretch>
            <a:fillRect/>
          </a:stretch>
        </p:blipFill>
        <p:spPr>
          <a:xfrm>
            <a:off x="330374" y="1793518"/>
            <a:ext cx="6828911" cy="40837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2000" cy="827681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03577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POWER BI PHASE  ·  DASHBOARD 2 OF 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2841" y="46883"/>
            <a:ext cx="1244423" cy="68271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538388" y="955536"/>
            <a:ext cx="777240" cy="77724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21779" y="923544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4108" y="1860631"/>
            <a:ext cx="822960" cy="45723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56824" y="955536"/>
            <a:ext cx="3520440" cy="75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 dirty="0">
                <a:solidFill>
                  <a:srgbClr val="111111"/>
                </a:solidFill>
                <a:latin typeface="Calibri"/>
              </a:rPr>
              <a:t>Hashtag &amp; </a:t>
            </a:r>
            <a:endParaRPr lang="en-US" sz="2400" b="1" i="0" dirty="0">
              <a:solidFill>
                <a:srgbClr val="111111"/>
              </a:solidFill>
              <a:latin typeface="Calibri"/>
            </a:endParaRPr>
          </a:p>
          <a:p>
            <a:pPr algn="l">
              <a:lnSpc>
                <a:spcPct val="105000"/>
              </a:lnSpc>
            </a:pPr>
            <a:r>
              <a:rPr sz="2400" b="1" i="0" dirty="0">
                <a:solidFill>
                  <a:srgbClr val="111111"/>
                </a:solidFill>
                <a:latin typeface="Calibri"/>
              </a:rPr>
              <a:t>Category Engagement</a:t>
            </a:r>
          </a:p>
        </p:txBody>
      </p:sp>
      <p:sp>
        <p:nvSpPr>
          <p:cNvPr id="11" name="Oval 10"/>
          <p:cNvSpPr/>
          <p:nvPr/>
        </p:nvSpPr>
        <p:spPr>
          <a:xfrm>
            <a:off x="7219406" y="2244850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38388" y="2051560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TikTok shows a meaningfully higher average engagement rate than YouTube</a:t>
            </a:r>
          </a:p>
        </p:txBody>
      </p:sp>
      <p:sp>
        <p:nvSpPr>
          <p:cNvPr id="13" name="Oval 12"/>
          <p:cNvSpPr/>
          <p:nvPr/>
        </p:nvSpPr>
        <p:spPr>
          <a:xfrm>
            <a:off x="7223636" y="3022635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38388" y="2852929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solidFill>
                  <a:srgbClr val="3A3A3A"/>
                </a:solidFill>
                <a:latin typeface="Calibri"/>
              </a:rPr>
              <a:t>#DIY, #Crafts, and #GameChanger top the hashtag leaderboard by average views</a:t>
            </a:r>
          </a:p>
        </p:txBody>
      </p:sp>
      <p:sp>
        <p:nvSpPr>
          <p:cNvPr id="15" name="Oval 14"/>
          <p:cNvSpPr/>
          <p:nvPr/>
        </p:nvSpPr>
        <p:spPr>
          <a:xfrm>
            <a:off x="7223636" y="3824452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7538388" y="3700445"/>
            <a:ext cx="4754880" cy="9750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solidFill>
                  <a:srgbClr val="3A3A3A"/>
                </a:solidFill>
                <a:latin typeface="Calibri"/>
              </a:rPr>
              <a:t>Engagement rate is fairly consistent across categories (0.06–0.08), with Art and Beauty narrowly leading</a:t>
            </a:r>
          </a:p>
        </p:txBody>
      </p:sp>
      <p:sp>
        <p:nvSpPr>
          <p:cNvPr id="17" name="Oval 16"/>
          <p:cNvSpPr/>
          <p:nvPr/>
        </p:nvSpPr>
        <p:spPr>
          <a:xfrm>
            <a:off x="7223636" y="5002860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38388" y="4879908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solidFill>
                  <a:srgbClr val="3A3A3A"/>
                </a:solidFill>
                <a:latin typeface="Calibri"/>
              </a:rPr>
              <a:t>No single category dominates — content strategy can diversify safely across formats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POWER BI 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17 / 23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3D4D2CA-810A-A4C7-252C-0B2B5986BA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81"/>
          <a:stretch>
            <a:fillRect/>
          </a:stretch>
        </p:blipFill>
        <p:spPr>
          <a:xfrm>
            <a:off x="190761" y="1782148"/>
            <a:ext cx="6914345" cy="44732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2000" cy="7867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4940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POWER BI PHASE  ·  DASHBOARD 3 OF 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6857" y="-1"/>
            <a:ext cx="1110343" cy="69570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135773" y="873503"/>
            <a:ext cx="777240" cy="77724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64978" y="864334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7004958" y="1728302"/>
            <a:ext cx="1097280" cy="77724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42218" y="1060754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 dirty="0">
                <a:solidFill>
                  <a:srgbClr val="111111"/>
                </a:solidFill>
                <a:latin typeface="Calibri"/>
              </a:rPr>
              <a:t>Hashtag ROI &amp; Content Duration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7040134" y="2108094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92247" y="1963304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solidFill>
                  <a:srgbClr val="3A3A3A"/>
                </a:solidFill>
                <a:latin typeface="Calibri"/>
              </a:rPr>
              <a:t>#MorningRoutine, #LearnOnTikTok, and #Relatable post the highest engagement rates</a:t>
            </a:r>
          </a:p>
        </p:txBody>
      </p:sp>
      <p:sp>
        <p:nvSpPr>
          <p:cNvPr id="13" name="Oval 12"/>
          <p:cNvSpPr/>
          <p:nvPr/>
        </p:nvSpPr>
        <p:spPr>
          <a:xfrm>
            <a:off x="7040134" y="3131643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92247" y="2984034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solidFill>
                  <a:srgbClr val="3A3A3A"/>
                </a:solidFill>
                <a:latin typeface="Calibri"/>
              </a:rPr>
              <a:t>Titles with an emoji show a higher engagement rate than titles without</a:t>
            </a:r>
          </a:p>
        </p:txBody>
      </p:sp>
      <p:sp>
        <p:nvSpPr>
          <p:cNvPr id="15" name="Oval 14"/>
          <p:cNvSpPr/>
          <p:nvPr/>
        </p:nvSpPr>
        <p:spPr>
          <a:xfrm>
            <a:off x="7040134" y="4114799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92247" y="4014280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solidFill>
                  <a:srgbClr val="3A3A3A"/>
                </a:solidFill>
                <a:latin typeface="Calibri"/>
              </a:rPr>
              <a:t>Watch time scales almost linearly with video duration up to ~90 seconds</a:t>
            </a:r>
          </a:p>
        </p:txBody>
      </p:sp>
      <p:sp>
        <p:nvSpPr>
          <p:cNvPr id="17" name="Oval 16"/>
          <p:cNvSpPr/>
          <p:nvPr/>
        </p:nvSpPr>
        <p:spPr>
          <a:xfrm>
            <a:off x="7040134" y="5086622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92247" y="5021945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solidFill>
                  <a:srgbClr val="3A3A3A"/>
                </a:solidFill>
                <a:latin typeface="Calibri"/>
              </a:rPr>
              <a:t>No clear drop-off point — longer-format Shorts still hold viewer 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POWER BI 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18 / 23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A30AF97-6E1A-6981-892A-D4DAE7F860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9"/>
          <a:stretch>
            <a:fillRect/>
          </a:stretch>
        </p:blipFill>
        <p:spPr>
          <a:xfrm>
            <a:off x="272890" y="1865374"/>
            <a:ext cx="6705195" cy="44339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2000" cy="777239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524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POWER BI PHASE  ·  DASHBOARD 4 OF 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1" y="100583"/>
            <a:ext cx="962918" cy="55143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542913" y="1080730"/>
            <a:ext cx="777240" cy="77724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2913" y="108073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7510956" y="1874024"/>
            <a:ext cx="841154" cy="45719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52110" y="1317877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 dirty="0">
                <a:solidFill>
                  <a:srgbClr val="111111"/>
                </a:solidFill>
                <a:latin typeface="Calibri"/>
              </a:rPr>
              <a:t>Creator Tier &amp; Timing Insights</a:t>
            </a:r>
          </a:p>
        </p:txBody>
      </p:sp>
      <p:sp>
        <p:nvSpPr>
          <p:cNvPr id="11" name="Oval 10"/>
          <p:cNvSpPr/>
          <p:nvPr/>
        </p:nvSpPr>
        <p:spPr>
          <a:xfrm>
            <a:off x="7534656" y="2168269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2062745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solidFill>
                  <a:srgbClr val="3A3A3A"/>
                </a:solidFill>
                <a:latin typeface="Calibri"/>
              </a:rPr>
              <a:t>TikTok outperforms YouTube on like, save, and share rate alike</a:t>
            </a:r>
          </a:p>
        </p:txBody>
      </p:sp>
      <p:sp>
        <p:nvSpPr>
          <p:cNvPr id="13" name="Oval 12"/>
          <p:cNvSpPr/>
          <p:nvPr/>
        </p:nvSpPr>
        <p:spPr>
          <a:xfrm>
            <a:off x="7538948" y="3083209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2976371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solidFill>
                  <a:srgbClr val="3A3A3A"/>
                </a:solidFill>
                <a:latin typeface="Calibri"/>
              </a:rPr>
              <a:t>Friday is the strongest day for views and engagement; both taper toward mid-week</a:t>
            </a:r>
          </a:p>
        </p:txBody>
      </p:sp>
      <p:sp>
        <p:nvSpPr>
          <p:cNvPr id="15" name="Oval 14"/>
          <p:cNvSpPr/>
          <p:nvPr/>
        </p:nvSpPr>
        <p:spPr>
          <a:xfrm>
            <a:off x="7538948" y="3894930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3835789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solidFill>
                  <a:srgbClr val="3A3A3A"/>
                </a:solidFill>
                <a:latin typeface="Calibri"/>
              </a:rPr>
              <a:t>Mid-tier creators drive 69% of average views vs. 31% from Micro-tier creators</a:t>
            </a:r>
          </a:p>
        </p:txBody>
      </p:sp>
      <p:sp>
        <p:nvSpPr>
          <p:cNvPr id="17" name="Oval 16"/>
          <p:cNvSpPr/>
          <p:nvPr/>
        </p:nvSpPr>
        <p:spPr>
          <a:xfrm>
            <a:off x="7510956" y="4858448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4752225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solidFill>
                  <a:srgbClr val="3A3A3A"/>
                </a:solidFill>
                <a:latin typeface="Calibri"/>
              </a:rPr>
              <a:t>View volume is broadly distributed across 30 countries, led by Kenya, Indonesia, and Germany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POWER BI 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19 / 23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BA0E0D3-BBD0-3EBF-BCF9-89F912CBA7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0"/>
          <a:stretch>
            <a:fillRect/>
          </a:stretch>
        </p:blipFill>
        <p:spPr>
          <a:xfrm>
            <a:off x="374875" y="1819653"/>
            <a:ext cx="7002653" cy="46063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75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9314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POWER BI PHASE  ·  DASHBOARD 5 OF 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510" y="33784"/>
            <a:ext cx="1063690" cy="681441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659032" y="882489"/>
            <a:ext cx="777240" cy="77724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59032" y="897273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7579255" y="1737015"/>
            <a:ext cx="936794" cy="45719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61445" y="961237"/>
            <a:ext cx="4937760" cy="75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 dirty="0">
                <a:solidFill>
                  <a:srgbClr val="111111"/>
                </a:solidFill>
                <a:latin typeface="Calibri"/>
              </a:rPr>
              <a:t>Device, Trend &amp; </a:t>
            </a:r>
            <a:endParaRPr lang="en-US" sz="2400" b="1" i="0" dirty="0">
              <a:solidFill>
                <a:srgbClr val="111111"/>
              </a:solidFill>
              <a:latin typeface="Calibri"/>
            </a:endParaRPr>
          </a:p>
          <a:p>
            <a:pPr algn="l">
              <a:lnSpc>
                <a:spcPct val="105000"/>
              </a:lnSpc>
            </a:pPr>
            <a:r>
              <a:rPr sz="2400" b="1" i="0" dirty="0">
                <a:solidFill>
                  <a:srgbClr val="111111"/>
                </a:solidFill>
                <a:latin typeface="Calibri"/>
              </a:rPr>
              <a:t>Seasonal Analysis</a:t>
            </a:r>
          </a:p>
        </p:txBody>
      </p:sp>
      <p:sp>
        <p:nvSpPr>
          <p:cNvPr id="11" name="Oval 10"/>
          <p:cNvSpPr/>
          <p:nvPr/>
        </p:nvSpPr>
        <p:spPr>
          <a:xfrm>
            <a:off x="7194337" y="2086118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37120" y="1937262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solidFill>
                  <a:srgbClr val="3A3A3A"/>
                </a:solidFill>
                <a:latin typeface="Calibri"/>
              </a:rPr>
              <a:t>Android drives the highest completion rate, ahead of iOS; Web lags well behind</a:t>
            </a:r>
          </a:p>
        </p:txBody>
      </p:sp>
      <p:sp>
        <p:nvSpPr>
          <p:cNvPr id="13" name="Oval 12"/>
          <p:cNvSpPr/>
          <p:nvPr/>
        </p:nvSpPr>
        <p:spPr>
          <a:xfrm>
            <a:off x="7194337" y="2932610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37120" y="2857407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solidFill>
                  <a:srgbClr val="3A3A3A"/>
                </a:solidFill>
                <a:latin typeface="Calibri"/>
              </a:rPr>
              <a:t>78% of engagement velocity comes from Short-form trends, vs. 19% Medium and 3% Evergreen</a:t>
            </a:r>
          </a:p>
        </p:txBody>
      </p:sp>
      <p:sp>
        <p:nvSpPr>
          <p:cNvPr id="15" name="Oval 14"/>
          <p:cNvSpPr/>
          <p:nvPr/>
        </p:nvSpPr>
        <p:spPr>
          <a:xfrm>
            <a:off x="7198629" y="3889558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37120" y="3796399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solidFill>
                  <a:srgbClr val="3A3A3A"/>
                </a:solidFill>
                <a:latin typeface="Calibri"/>
              </a:rPr>
              <a:t>The For You Page drives 39% of completion-rate share — by far the top traffic source</a:t>
            </a:r>
          </a:p>
        </p:txBody>
      </p:sp>
      <p:sp>
        <p:nvSpPr>
          <p:cNvPr id="17" name="Oval 16"/>
          <p:cNvSpPr/>
          <p:nvPr/>
        </p:nvSpPr>
        <p:spPr>
          <a:xfrm>
            <a:off x="7198629" y="4773167"/>
            <a:ext cx="128016" cy="128016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37120" y="4685022"/>
            <a:ext cx="4754880" cy="642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dirty="0">
                <a:solidFill>
                  <a:srgbClr val="3A3A3A"/>
                </a:solidFill>
                <a:latin typeface="Calibri"/>
              </a:rPr>
              <a:t>Summer generates the highest view volume, with Fall, Winter, and Spring close behind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POWER BI 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20 / 23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6181D39-1861-3E65-1D40-C0E7D2055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14" y="1574046"/>
            <a:ext cx="6979846" cy="444470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2000" cy="713233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4598"/>
            <a:ext cx="73152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 spc="150" dirty="0">
                <a:solidFill>
                  <a:srgbClr val="FF4B12"/>
                </a:solidFill>
                <a:latin typeface="Calibri"/>
              </a:rPr>
              <a:t>EXECUTIVE SUMMARY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8824" y="100584"/>
            <a:ext cx="934368" cy="5152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941832"/>
            <a:ext cx="9144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 dirty="0">
                <a:solidFill>
                  <a:srgbClr val="111111"/>
                </a:solidFill>
                <a:latin typeface="Calibri"/>
              </a:rPr>
              <a:t>The Story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10892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Across 48,000+ short-form videos and 5 billion views, Nike's audience is unmistakably TikTok-led, Friday-peaked, and driven more by mid-tier creators than mega-influencers. Engagement is remarkably consistent across content categories, and viewers reward longer, more considered Shorts rather than the shortest possible clips.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80360"/>
            <a:ext cx="2514600" cy="1600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880360"/>
            <a:ext cx="2514600" cy="73152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3136391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Calibri"/>
              </a:rPr>
              <a:t>60.3%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749039"/>
            <a:ext cx="2148840" cy="4998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of views come from TikTok, not YouTube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880360"/>
            <a:ext cx="2514600" cy="1600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2880360"/>
            <a:ext cx="2514600" cy="73152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3136391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Calibri"/>
              </a:rPr>
              <a:t>69%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749039"/>
            <a:ext cx="2148840" cy="4998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of average views come from Mid-tier creators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880360"/>
            <a:ext cx="2514600" cy="1600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2880360"/>
            <a:ext cx="2514600" cy="73152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136391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Calibri"/>
              </a:rPr>
              <a:t>78%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39"/>
            <a:ext cx="2148840" cy="4998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of engagement velocity is driven by Short-form trends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39" y="2880360"/>
            <a:ext cx="2514600" cy="1600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06839" y="2880360"/>
            <a:ext cx="2514600" cy="73152"/>
          </a:xfrm>
          <a:prstGeom prst="rect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19" y="3136391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 dirty="0">
                <a:solidFill>
                  <a:srgbClr val="111111"/>
                </a:solidFill>
                <a:latin typeface="Calibri"/>
              </a:rPr>
              <a:t>39%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3749039"/>
            <a:ext cx="2148840" cy="4998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of completion-rate share comes from the For You Page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892040"/>
            <a:ext cx="1088136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133544"/>
            <a:ext cx="10332720" cy="6142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Nike's short-form audience already has favorites — a platform, a creator tier, a day, and a content length. The opportunity now is to align spend and content strategy to what's already working, rather than spreading budget evenly.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EXECUTIVE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6666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spc="150" dirty="0">
                <a:solidFill>
                  <a:srgbClr val="FF4B12"/>
                </a:solidFill>
                <a:latin typeface="Calibri"/>
              </a:rPr>
              <a:t>STRATEGIC RECOMMENDATIONS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0833" y="100583"/>
            <a:ext cx="962359" cy="5898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915699"/>
            <a:ext cx="9144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 dirty="0">
                <a:solidFill>
                  <a:srgbClr val="111111"/>
                </a:solidFill>
                <a:latin typeface="Calibri"/>
              </a:rPr>
              <a:t>Where Nike Should Act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Five data-backed moves to sharpen short-form marketing ahead of upcoming product launches.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48256"/>
            <a:ext cx="5303520" cy="1399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2304288"/>
            <a:ext cx="457200" cy="45720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249424"/>
            <a:ext cx="4206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i="0" dirty="0">
                <a:solidFill>
                  <a:srgbClr val="111111"/>
                </a:solidFill>
                <a:latin typeface="Calibri"/>
              </a:rPr>
              <a:t>Shift Budget Weight Toward TikTok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596896"/>
            <a:ext cx="4206240" cy="7583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TikTok drives 60% of total views and shows meaningfully higher engagement than YouTube. Increase TikTok's share of paid creator spend.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91297"/>
            <a:ext cx="5303520" cy="13643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46520" y="2304288"/>
            <a:ext cx="457200" cy="45720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3042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249424"/>
            <a:ext cx="4206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i="0" dirty="0">
                <a:solidFill>
                  <a:srgbClr val="111111"/>
                </a:solidFill>
                <a:latin typeface="Calibri"/>
              </a:rPr>
              <a:t>Scale Mid-Tier Creator Partnerships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596896"/>
            <a:ext cx="4206240" cy="7583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Mid-tier creators generate 69% of average views vs. 31% from Micro-tier. Prioritize mid-tier deals for efficient reach at lower cost than mega-influencers.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413" y="3619237"/>
            <a:ext cx="5303520" cy="134684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8680" y="3721608"/>
            <a:ext cx="457200" cy="45720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666744"/>
            <a:ext cx="4206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i="0" dirty="0">
                <a:solidFill>
                  <a:srgbClr val="111111"/>
                </a:solidFill>
                <a:latin typeface="Calibri"/>
              </a:rPr>
              <a:t>Anchor Major Drops to Friday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0662" y="3957342"/>
            <a:ext cx="4206240" cy="7583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Friday shows the strongest views and engagement of the week. Schedule flagship product-launch content for Friday releases.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2" y="3623117"/>
            <a:ext cx="5303520" cy="138897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46520" y="3721608"/>
            <a:ext cx="457200" cy="45720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37216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666744"/>
            <a:ext cx="4206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i="0" dirty="0">
                <a:solidFill>
                  <a:srgbClr val="111111"/>
                </a:solidFill>
                <a:latin typeface="Calibri"/>
              </a:rPr>
              <a:t>Optimize for the For You Page, Not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949200"/>
            <a:ext cx="4206240" cy="10168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39% of completion-rate share comes from FYP distribution. Design content for algorithmic discovery — strong hooks in the first 3 seconds — over search-optimized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330366"/>
            <a:ext cx="10881360" cy="97583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99160" y="5468825"/>
            <a:ext cx="457200" cy="457200"/>
          </a:xfrm>
          <a:prstGeom prst="ellipse">
            <a:avLst/>
          </a:prstGeom>
          <a:solidFill>
            <a:srgbClr val="FF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44864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70662" y="5441919"/>
            <a:ext cx="978408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i="0" dirty="0">
                <a:solidFill>
                  <a:srgbClr val="111111"/>
                </a:solidFill>
                <a:latin typeface="Calibri"/>
              </a:rPr>
              <a:t>Keep Shorts in the 60–90s 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697425"/>
            <a:ext cx="9784080" cy="4998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3A3A3A"/>
                </a:solidFill>
                <a:latin typeface="Calibri"/>
              </a:rPr>
              <a:t>Watch time scales linearly with duration up to ~90 seconds with no drop-off. Favor longer-format storytelling over ultra-short clips for launch content.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100">
                <a:solidFill>
                  <a:srgbClr val="AFAFAF"/>
                </a:solidFill>
                <a:latin typeface="Calibri"/>
              </a:rPr>
              <a:t>NIKE SHORT-FORM VIDEO ANALYTICS  ·  STRATEGIC 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FAFAF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ike_ppt/shoe_white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 rot="720000">
            <a:off x="-294847" y="2927946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822960"/>
            <a:ext cx="2743200" cy="457200"/>
          </a:xfrm>
          <a:prstGeom prst="rect">
            <a:avLst/>
          </a:prstGeom>
          <a:solidFill>
            <a:srgbClr val="FF4B1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 txBox="1"/>
          <p:nvPr/>
        </p:nvSpPr>
        <p:spPr>
          <a:xfrm>
            <a:off x="73152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COMPLETE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026850" y="2693707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11500" dirty="0">
                <a:solidFill>
                  <a:schemeClr val="bg1"/>
                </a:solidFill>
                <a:latin typeface="Algerian" panose="04020705040A02060702" pitchFamily="82" charset="0"/>
              </a:rPr>
              <a:t>THANKYOU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5874160" y="1521076"/>
            <a:ext cx="3483201" cy="185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39136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42245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1439</Words>
  <Application>Microsoft Office PowerPoint</Application>
  <PresentationFormat>Widescreen</PresentationFormat>
  <Paragraphs>222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Algerian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Archi Katiyar</cp:lastModifiedBy>
  <cp:revision>14</cp:revision>
  <dcterms:created xsi:type="dcterms:W3CDTF">2026-09-19T08:33:29Z</dcterms:created>
  <dcterms:modified xsi:type="dcterms:W3CDTF">2026-09-21T12:04:41Z</dcterms:modified>
</cp:coreProperties>
</file>